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6" r:id="rId5"/>
    <p:sldId id="274" r:id="rId6"/>
    <p:sldId id="273" r:id="rId7"/>
    <p:sldId id="275" r:id="rId8"/>
    <p:sldId id="268" r:id="rId9"/>
    <p:sldId id="272" r:id="rId10"/>
    <p:sldId id="271"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DC8C294D-C595-CCA3-A4B4-278AA3DDB64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ED25135-E19D-E6A9-5873-730AAF8CAC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a:extLst>
              <a:ext uri="{FF2B5EF4-FFF2-40B4-BE49-F238E27FC236}">
                <a16:creationId xmlns:a16="http://schemas.microsoft.com/office/drawing/2014/main" id="{219276D6-75FD-FFB7-4EB4-3EBBBBEDAB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460459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159421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dirty="0"/>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dirty="0"/>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dirty="0"/>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Rohan2486/CSE_40_UniversityProjec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Image-based Breed Recognition for Cattle and Buffalo</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CSE_40</a:t>
            </a:r>
            <a:endParaRPr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p>
          <a:p>
            <a:pPr marL="0" marR="0" lvl="0" indent="0" algn="ctr" rtl="0">
              <a:spcBef>
                <a:spcPts val="0"/>
              </a:spcBef>
              <a:spcAft>
                <a:spcPts val="0"/>
              </a:spcAft>
              <a:buClr>
                <a:srgbClr val="17365D"/>
              </a:buClr>
              <a:buSzPts val="2000"/>
              <a:buFont typeface="Arial"/>
              <a:buNone/>
            </a:pPr>
            <a:r>
              <a:rPr lang="en-GB" sz="1800" b="1" dirty="0">
                <a:solidFill>
                  <a:srgbClr val="17365D"/>
                </a:solidFill>
                <a:latin typeface="Cambria" panose="02040503050406030204" pitchFamily="18" charset="0"/>
                <a:ea typeface="Cambria" panose="02040503050406030204" pitchFamily="18" charset="0"/>
                <a:sym typeface="Verdana"/>
              </a:rPr>
              <a:t>Dr. Jayavadivel Ravi</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551645038"/>
              </p:ext>
            </p:extLst>
          </p:nvPr>
        </p:nvGraphicFramePr>
        <p:xfrm>
          <a:off x="553347" y="2721840"/>
          <a:ext cx="5418675" cy="246894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20221CSE0009</a:t>
                      </a:r>
                    </a:p>
                    <a:p>
                      <a:pPr marL="0" marR="0" lvl="0" indent="0" algn="ctr" rtl="0">
                        <a:spcBef>
                          <a:spcPts val="0"/>
                        </a:spcBef>
                        <a:spcAft>
                          <a:spcPts val="0"/>
                        </a:spcAft>
                        <a:buFont typeface="+mj-lt"/>
                        <a:buNone/>
                      </a:pPr>
                      <a:r>
                        <a:rPr lang="en-IN" sz="1800" u="none" strike="noStrike" cap="none" dirty="0"/>
                        <a:t>20221CSE0012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Rohan Das</a:t>
                      </a:r>
                    </a:p>
                    <a:p>
                      <a:pPr marL="0" marR="0" lvl="0" indent="0" algn="ctr" rtl="0">
                        <a:spcBef>
                          <a:spcPts val="0"/>
                        </a:spcBef>
                        <a:spcAft>
                          <a:spcPts val="0"/>
                        </a:spcAft>
                        <a:buNone/>
                      </a:pPr>
                      <a:r>
                        <a:rPr lang="en-IN" sz="1800" u="none" strike="noStrike" cap="none" dirty="0"/>
                        <a:t>Amrutha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t>
            </a:r>
            <a:r>
              <a:rPr lang="en-US" sz="1800" b="1" dirty="0">
                <a:solidFill>
                  <a:schemeClr val="tx1"/>
                </a:solidFill>
                <a:latin typeface="Cambria" panose="02040503050406030204" pitchFamily="18" charset="0"/>
                <a:ea typeface="Cambria" panose="02040503050406030204" pitchFamily="18" charset="0"/>
                <a:cs typeface="Verdana"/>
                <a:sym typeface="Verdana"/>
              </a:rPr>
              <a:t>&amp;</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Blessed Prince P  </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Ms. Vidhya R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dirty="0"/>
              <a:t>SIH25004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Ministry of Fisheries, Animal Husbandry and Dairying</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342900" lvl="0" indent="-190500" algn="just">
              <a:lnSpc>
                <a:spcPct val="150000"/>
              </a:lnSpc>
              <a:spcBef>
                <a:spcPts val="0"/>
              </a:spcBef>
              <a:buNone/>
            </a:pPr>
            <a:r>
              <a:rPr lang="en-US" dirty="0">
                <a:latin typeface="Cambria" panose="02040503050406030204" pitchFamily="18" charset="0"/>
                <a:ea typeface="Cambria" panose="02040503050406030204" pitchFamily="18" charset="0"/>
              </a:rPr>
              <a:t>   Farmers and veterinary departments lack an automated, reliable system to identify cattle and buffalo breeds from images. Manual identification is error-prone and requires expert knowledge. This project aims to build an AI-based image recognition system that accurately classifies breeds using computer vision and deep learning.</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D4C6-1132-925E-1714-0851C13DA4FB}"/>
              </a:ext>
            </a:extLst>
          </p:cNvPr>
          <p:cNvSpPr>
            <a:spLocks noGrp="1"/>
          </p:cNvSpPr>
          <p:nvPr>
            <p:ph type="title"/>
          </p:nvPr>
        </p:nvSpPr>
        <p:spPr/>
        <p:txBody>
          <a:bodyPr/>
          <a:lstStyle/>
          <a:p>
            <a:r>
              <a:rPr lang="en-US" dirty="0"/>
              <a:t>Objectives</a:t>
            </a:r>
            <a:endParaRPr lang="en-IN" dirty="0"/>
          </a:p>
        </p:txBody>
      </p:sp>
      <p:sp>
        <p:nvSpPr>
          <p:cNvPr id="3" name="Text Placeholder 2">
            <a:extLst>
              <a:ext uri="{FF2B5EF4-FFF2-40B4-BE49-F238E27FC236}">
                <a16:creationId xmlns:a16="http://schemas.microsoft.com/office/drawing/2014/main" id="{A51C9AE1-887E-5AF4-4BDA-D4171F98283A}"/>
              </a:ext>
            </a:extLst>
          </p:cNvPr>
          <p:cNvSpPr>
            <a:spLocks noGrp="1"/>
          </p:cNvSpPr>
          <p:nvPr>
            <p:ph type="body" idx="1"/>
          </p:nvPr>
        </p:nvSpPr>
        <p:spPr/>
        <p:txBody>
          <a:bodyPr>
            <a:normAutofit fontScale="77500" lnSpcReduction="20000"/>
          </a:bodyPr>
          <a:lstStyle/>
          <a:p>
            <a:pPr marL="76200" indent="0">
              <a:buNone/>
            </a:pPr>
            <a:r>
              <a:rPr lang="en-US" b="1" dirty="0">
                <a:latin typeface="Cambria" panose="02040503050406030204" pitchFamily="18" charset="0"/>
                <a:ea typeface="Cambria" panose="02040503050406030204" pitchFamily="18" charset="0"/>
              </a:rPr>
              <a:t>1. Automated Breed Identification</a:t>
            </a:r>
          </a:p>
          <a:p>
            <a:r>
              <a:rPr lang="en-US" dirty="0">
                <a:latin typeface="Cambria" panose="02040503050406030204" pitchFamily="18" charset="0"/>
                <a:ea typeface="Cambria" panose="02040503050406030204" pitchFamily="18" charset="0"/>
              </a:rPr>
              <a:t>Use image processing and deep learning techniques</a:t>
            </a:r>
          </a:p>
          <a:p>
            <a:r>
              <a:rPr lang="en-US" dirty="0">
                <a:latin typeface="Cambria" panose="02040503050406030204" pitchFamily="18" charset="0"/>
                <a:ea typeface="Cambria" panose="02040503050406030204" pitchFamily="18" charset="0"/>
              </a:rPr>
              <a:t>Identify cattle and buffalo breeds accurately</a:t>
            </a:r>
          </a:p>
          <a:p>
            <a:r>
              <a:rPr lang="en-US" dirty="0">
                <a:latin typeface="Cambria" panose="02040503050406030204" pitchFamily="18" charset="0"/>
                <a:ea typeface="Cambria" panose="02040503050406030204" pitchFamily="18" charset="0"/>
              </a:rPr>
              <a:t>Reduce dependence on manual expertise</a:t>
            </a:r>
          </a:p>
          <a:p>
            <a:pPr marL="76200" indent="0">
              <a:buNone/>
            </a:pPr>
            <a:r>
              <a:rPr lang="en-US" b="1" dirty="0">
                <a:latin typeface="Cambria" panose="02040503050406030204" pitchFamily="18" charset="0"/>
                <a:ea typeface="Cambria" panose="02040503050406030204" pitchFamily="18" charset="0"/>
              </a:rPr>
              <a:t>2. Improved Accuracy &amp; Reliability</a:t>
            </a:r>
          </a:p>
          <a:p>
            <a:r>
              <a:rPr lang="en-US" dirty="0">
                <a:latin typeface="Cambria" panose="02040503050406030204" pitchFamily="18" charset="0"/>
                <a:ea typeface="Cambria" panose="02040503050406030204" pitchFamily="18" charset="0"/>
              </a:rPr>
              <a:t>Minimize human errors in breed recognition</a:t>
            </a:r>
          </a:p>
          <a:p>
            <a:r>
              <a:rPr lang="en-US" dirty="0">
                <a:latin typeface="Cambria" panose="02040503050406030204" pitchFamily="18" charset="0"/>
                <a:ea typeface="Cambria" panose="02040503050406030204" pitchFamily="18" charset="0"/>
              </a:rPr>
              <a:t>Ensure consistent and repeatable results</a:t>
            </a:r>
          </a:p>
          <a:p>
            <a:r>
              <a:rPr lang="en-US" dirty="0">
                <a:latin typeface="Cambria" panose="02040503050406030204" pitchFamily="18" charset="0"/>
                <a:ea typeface="Cambria" panose="02040503050406030204" pitchFamily="18" charset="0"/>
              </a:rPr>
              <a:t>Improve decision-making in livestock management</a:t>
            </a:r>
          </a:p>
          <a:p>
            <a:pPr marL="76200" indent="0">
              <a:buNone/>
            </a:pPr>
            <a:r>
              <a:rPr lang="en-US" b="1" dirty="0">
                <a:latin typeface="Cambria" panose="02040503050406030204" pitchFamily="18" charset="0"/>
                <a:ea typeface="Cambria" panose="02040503050406030204" pitchFamily="18" charset="0"/>
              </a:rPr>
              <a:t>3. Support for Stakeholders</a:t>
            </a:r>
          </a:p>
          <a:p>
            <a:r>
              <a:rPr lang="en-US" dirty="0">
                <a:latin typeface="Cambria" panose="02040503050406030204" pitchFamily="18" charset="0"/>
                <a:ea typeface="Cambria" panose="02040503050406030204" pitchFamily="18" charset="0"/>
              </a:rPr>
              <a:t>Assist farmers with easy breed identification</a:t>
            </a:r>
          </a:p>
          <a:p>
            <a:r>
              <a:rPr lang="en-US" dirty="0">
                <a:latin typeface="Cambria" panose="02040503050406030204" pitchFamily="18" charset="0"/>
                <a:ea typeface="Cambria" panose="02040503050406030204" pitchFamily="18" charset="0"/>
              </a:rPr>
              <a:t>Support veterinarians in diagnosis and care</a:t>
            </a:r>
          </a:p>
          <a:p>
            <a:r>
              <a:rPr lang="en-US" dirty="0">
                <a:latin typeface="Cambria" panose="02040503050406030204" pitchFamily="18" charset="0"/>
                <a:ea typeface="Cambria" panose="02040503050406030204" pitchFamily="18" charset="0"/>
              </a:rPr>
              <a:t>Enable authorities in data-driven planning</a:t>
            </a:r>
          </a:p>
          <a:p>
            <a:pPr marL="76200" indent="0">
              <a:buNone/>
            </a:pPr>
            <a:r>
              <a:rPr lang="en-US" b="1" dirty="0">
                <a:latin typeface="Cambria" panose="02040503050406030204" pitchFamily="18" charset="0"/>
                <a:ea typeface="Cambria" panose="02040503050406030204" pitchFamily="18" charset="0"/>
              </a:rPr>
              <a:t>4. Scalable Digital Solution</a:t>
            </a:r>
          </a:p>
          <a:p>
            <a:r>
              <a:rPr lang="en-US" dirty="0">
                <a:latin typeface="Cambria" panose="02040503050406030204" pitchFamily="18" charset="0"/>
                <a:ea typeface="Cambria" panose="02040503050406030204" pitchFamily="18" charset="0"/>
              </a:rPr>
              <a:t>Deploy as web and mobile applications</a:t>
            </a:r>
          </a:p>
          <a:p>
            <a:r>
              <a:rPr lang="en-US" dirty="0">
                <a:latin typeface="Cambria" panose="02040503050406030204" pitchFamily="18" charset="0"/>
                <a:ea typeface="Cambria" panose="02040503050406030204" pitchFamily="18" charset="0"/>
              </a:rPr>
              <a:t>Enable real-time image-based predictions</a:t>
            </a:r>
          </a:p>
          <a:p>
            <a:r>
              <a:rPr lang="en-US" dirty="0">
                <a:latin typeface="Cambria" panose="02040503050406030204" pitchFamily="18" charset="0"/>
                <a:ea typeface="Cambria" panose="02040503050406030204" pitchFamily="18" charset="0"/>
              </a:rPr>
              <a:t>Ensure adaptability for future enhancements</a:t>
            </a:r>
          </a:p>
        </p:txBody>
      </p:sp>
    </p:spTree>
    <p:extLst>
      <p:ext uri="{BB962C8B-B14F-4D97-AF65-F5344CB8AC3E}">
        <p14:creationId xmlns:p14="http://schemas.microsoft.com/office/powerpoint/2010/main" val="1813904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Background and Related work for title Selection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206631"/>
            <a:ext cx="10668000" cy="5071621"/>
          </a:xfrm>
          <a:prstGeom prst="rect">
            <a:avLst/>
          </a:prstGeom>
          <a:noFill/>
          <a:ln>
            <a:noFill/>
          </a:ln>
        </p:spPr>
        <p:txBody>
          <a:bodyPr spcFirstLastPara="1" wrap="square" lIns="91425" tIns="45700" rIns="91425" bIns="45700" anchor="t" anchorCtr="0">
            <a:normAutofit fontScale="92500" lnSpcReduction="20000"/>
          </a:bodyPr>
          <a:lstStyle/>
          <a:p>
            <a:r>
              <a:rPr lang="en-US" sz="2000" dirty="0">
                <a:latin typeface="Cambria" panose="02040503050406030204" pitchFamily="18" charset="0"/>
                <a:ea typeface="Cambria" panose="02040503050406030204" pitchFamily="18" charset="0"/>
              </a:rPr>
              <a:t>With advancements in computer vision and machine learning, image-based breed recognition has emerged as a promising alternative to manual methods. Several studies have explored the use of image processing techniques combined with machine learning algorithms such as Support Vector Machine (SVM) and K-Nearest Neighbor (KNN) to classify cattle and buffalo breeds. These approaches typically involve image preprocessing, feature extraction based on texture, shape, and color, followed by supervised classification. Research findings indicate that such systems can achieve reliable accuracy while reducing human intervention and improving consistency in breed identification.</a:t>
            </a:r>
          </a:p>
          <a:p>
            <a:r>
              <a:rPr lang="en-US" sz="2000" dirty="0">
                <a:latin typeface="Cambria" panose="02040503050406030204" pitchFamily="18" charset="0"/>
                <a:ea typeface="Cambria" panose="02040503050406030204" pitchFamily="18" charset="0"/>
              </a:rPr>
              <a:t>Recent works have also highlighted the growing use of deep learning models, particularly Convolutional Neural Networks (CNNs), for automated livestock recognition due to their ability to learn discriminative features directly from images. While traditional machine learning approaches offer simplicity and lower computational cost, deep learning-based methods provide better scalability and robustness when trained on larger and diverse datasets. These studies demonstrate the feasibility and importance of automated breed recognition systems in modern livestock management.</a:t>
            </a:r>
          </a:p>
          <a:p>
            <a:r>
              <a:rPr lang="en-US" sz="2000" dirty="0">
                <a:latin typeface="Cambria" panose="02040503050406030204" pitchFamily="18" charset="0"/>
                <a:ea typeface="Cambria" panose="02040503050406030204" pitchFamily="18" charset="0"/>
              </a:rPr>
              <a:t>Based on the reviewed literature, there exists a strong need for an accurate, scalable, and user-friendly image-based solution for cattle and buffalo breed identification. This motivates the selection of the project title </a:t>
            </a:r>
            <a:r>
              <a:rPr lang="en-US" sz="2000" b="1" dirty="0">
                <a:latin typeface="Cambria" panose="02040503050406030204" pitchFamily="18" charset="0"/>
                <a:ea typeface="Cambria" panose="02040503050406030204" pitchFamily="18" charset="0"/>
              </a:rPr>
              <a:t>“Image-based Breed Recognition for Cattle and Buffalo”</a:t>
            </a:r>
            <a:r>
              <a:rPr lang="en-US" sz="2000" dirty="0">
                <a:latin typeface="Cambria" panose="02040503050406030204" pitchFamily="18" charset="0"/>
                <a:ea typeface="Cambria" panose="02040503050406030204" pitchFamily="18" charset="0"/>
              </a:rPr>
              <a:t>, which aims to leverage artificial intelligence techniques to support farmers, veterinarians, and livestock authorities in informed decision-making and sustainable animal husbandry practices.</a:t>
            </a:r>
          </a:p>
        </p:txBody>
      </p:sp>
    </p:spTree>
    <p:extLst>
      <p:ext uri="{BB962C8B-B14F-4D97-AF65-F5344CB8AC3E}">
        <p14:creationId xmlns:p14="http://schemas.microsoft.com/office/powerpoint/2010/main" val="2637979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sz="1900" b="1" dirty="0">
                <a:latin typeface="Cambria" panose="02040503050406030204" pitchFamily="18" charset="0"/>
                <a:ea typeface="Cambria" panose="02040503050406030204" pitchFamily="18" charset="0"/>
              </a:rPr>
              <a:t>Technology Stack Components</a:t>
            </a:r>
          </a:p>
          <a:p>
            <a:pPr marL="76200" indent="0">
              <a:buNone/>
            </a:pPr>
            <a:r>
              <a:rPr lang="en-IN" sz="1900" b="1" dirty="0">
                <a:latin typeface="Cambria" panose="02040503050406030204" pitchFamily="18" charset="0"/>
                <a:ea typeface="Cambria" panose="02040503050406030204" pitchFamily="18" charset="0"/>
              </a:rPr>
              <a:t>Core Technologies</a:t>
            </a:r>
          </a:p>
          <a:p>
            <a:r>
              <a:rPr lang="en-IN" sz="1900" b="1" dirty="0">
                <a:latin typeface="Cambria" panose="02040503050406030204" pitchFamily="18" charset="0"/>
                <a:ea typeface="Cambria" panose="02040503050406030204" pitchFamily="18" charset="0"/>
              </a:rPr>
              <a:t>React 18.3.1:</a:t>
            </a:r>
            <a:r>
              <a:rPr lang="en-IN" sz="1900" dirty="0">
                <a:latin typeface="Cambria" panose="02040503050406030204" pitchFamily="18" charset="0"/>
                <a:ea typeface="Cambria" panose="02040503050406030204" pitchFamily="18" charset="0"/>
              </a:rPr>
              <a:t> Component-based UI development for interactive web interface</a:t>
            </a:r>
          </a:p>
          <a:p>
            <a:r>
              <a:rPr lang="en-IN" sz="1900" b="1" dirty="0">
                <a:latin typeface="Cambria" panose="02040503050406030204" pitchFamily="18" charset="0"/>
                <a:ea typeface="Cambria" panose="02040503050406030204" pitchFamily="18" charset="0"/>
              </a:rPr>
              <a:t>TypeScript 5.5.3:</a:t>
            </a:r>
            <a:r>
              <a:rPr lang="en-IN" sz="1900" dirty="0">
                <a:latin typeface="Cambria" panose="02040503050406030204" pitchFamily="18" charset="0"/>
                <a:ea typeface="Cambria" panose="02040503050406030204" pitchFamily="18" charset="0"/>
              </a:rPr>
              <a:t> Type-safe JavaScript for improved reliability and maintainability</a:t>
            </a:r>
          </a:p>
          <a:p>
            <a:r>
              <a:rPr lang="en-IN" sz="1900" b="1" dirty="0">
                <a:latin typeface="Cambria" panose="02040503050406030204" pitchFamily="18" charset="0"/>
                <a:ea typeface="Cambria" panose="02040503050406030204" pitchFamily="18" charset="0"/>
              </a:rPr>
              <a:t>Vite 5.4.2:</a:t>
            </a:r>
            <a:r>
              <a:rPr lang="en-IN" sz="1900" dirty="0">
                <a:latin typeface="Cambria" panose="02040503050406030204" pitchFamily="18" charset="0"/>
                <a:ea typeface="Cambria" panose="02040503050406030204" pitchFamily="18" charset="0"/>
              </a:rPr>
              <a:t> Fast build tool and development server for efficient project setup</a:t>
            </a:r>
          </a:p>
          <a:p>
            <a:pPr marL="76200" indent="0">
              <a:buNone/>
            </a:pPr>
            <a:r>
              <a:rPr lang="en-IN" sz="1900" b="1" dirty="0">
                <a:latin typeface="Cambria" panose="02040503050406030204" pitchFamily="18" charset="0"/>
                <a:ea typeface="Cambria" panose="02040503050406030204" pitchFamily="18" charset="0"/>
              </a:rPr>
              <a:t>Styling &amp; UI</a:t>
            </a:r>
          </a:p>
          <a:p>
            <a:r>
              <a:rPr lang="en-IN" sz="1900" b="1" dirty="0">
                <a:latin typeface="Cambria" panose="02040503050406030204" pitchFamily="18" charset="0"/>
                <a:ea typeface="Cambria" panose="02040503050406030204" pitchFamily="18" charset="0"/>
              </a:rPr>
              <a:t>Tailwind CSS 3.4.1:</a:t>
            </a:r>
            <a:r>
              <a:rPr lang="en-IN" sz="1900" dirty="0">
                <a:latin typeface="Cambria" panose="02040503050406030204" pitchFamily="18" charset="0"/>
                <a:ea typeface="Cambria" panose="02040503050406030204" pitchFamily="18" charset="0"/>
              </a:rPr>
              <a:t> Utility-first CSS framework for responsive and modern UI design</a:t>
            </a:r>
          </a:p>
          <a:p>
            <a:r>
              <a:rPr lang="en-IN" sz="1900" b="1" dirty="0" err="1">
                <a:latin typeface="Cambria" panose="02040503050406030204" pitchFamily="18" charset="0"/>
                <a:ea typeface="Cambria" panose="02040503050406030204" pitchFamily="18" charset="0"/>
              </a:rPr>
              <a:t>Lucide</a:t>
            </a:r>
            <a:r>
              <a:rPr lang="en-IN" sz="1900" b="1" dirty="0">
                <a:latin typeface="Cambria" panose="02040503050406030204" pitchFamily="18" charset="0"/>
                <a:ea typeface="Cambria" panose="02040503050406030204" pitchFamily="18" charset="0"/>
              </a:rPr>
              <a:t> React 0.344.0:</a:t>
            </a:r>
            <a:r>
              <a:rPr lang="en-IN" sz="1900" dirty="0">
                <a:latin typeface="Cambria" panose="02040503050406030204" pitchFamily="18" charset="0"/>
                <a:ea typeface="Cambria" panose="02040503050406030204" pitchFamily="18" charset="0"/>
              </a:rPr>
              <a:t> Lightweight icon library for enhanced user experience</a:t>
            </a:r>
          </a:p>
          <a:p>
            <a:pPr marL="76200" indent="0">
              <a:buNone/>
            </a:pPr>
            <a:r>
              <a:rPr lang="en-IN" sz="1900" b="1" dirty="0">
                <a:latin typeface="Cambria" panose="02040503050406030204" pitchFamily="18" charset="0"/>
                <a:ea typeface="Cambria" panose="02040503050406030204" pitchFamily="18" charset="0"/>
              </a:rPr>
              <a:t>Development &amp; Deployment</a:t>
            </a:r>
          </a:p>
          <a:p>
            <a:r>
              <a:rPr lang="en-IN" sz="1900" b="1" dirty="0" err="1">
                <a:latin typeface="Cambria" panose="02040503050406030204" pitchFamily="18" charset="0"/>
                <a:ea typeface="Cambria" panose="02040503050406030204" pitchFamily="18" charset="0"/>
              </a:rPr>
              <a:t>ESLint</a:t>
            </a:r>
            <a:r>
              <a:rPr lang="en-IN" sz="1900" b="1" dirty="0">
                <a:latin typeface="Cambria" panose="02040503050406030204" pitchFamily="18" charset="0"/>
                <a:ea typeface="Cambria" panose="02040503050406030204" pitchFamily="18" charset="0"/>
              </a:rPr>
              <a:t>:</a:t>
            </a:r>
            <a:r>
              <a:rPr lang="en-IN" sz="1900" dirty="0">
                <a:latin typeface="Cambria" panose="02040503050406030204" pitchFamily="18" charset="0"/>
                <a:ea typeface="Cambria" panose="02040503050406030204" pitchFamily="18" charset="0"/>
              </a:rPr>
              <a:t> Ensures code quality and consistency during development</a:t>
            </a:r>
          </a:p>
          <a:p>
            <a:r>
              <a:rPr lang="en-IN" sz="1900" b="1" dirty="0" err="1">
                <a:latin typeface="Cambria" panose="02040503050406030204" pitchFamily="18" charset="0"/>
                <a:ea typeface="Cambria" panose="02040503050406030204" pitchFamily="18" charset="0"/>
              </a:rPr>
              <a:t>PostCSS</a:t>
            </a:r>
            <a:r>
              <a:rPr lang="en-IN" sz="1900" b="1" dirty="0">
                <a:latin typeface="Cambria" panose="02040503050406030204" pitchFamily="18" charset="0"/>
                <a:ea typeface="Cambria" panose="02040503050406030204" pitchFamily="18" charset="0"/>
              </a:rPr>
              <a:t> &amp; </a:t>
            </a:r>
            <a:r>
              <a:rPr lang="en-IN" sz="1900" b="1" dirty="0" err="1">
                <a:latin typeface="Cambria" panose="02040503050406030204" pitchFamily="18" charset="0"/>
                <a:ea typeface="Cambria" panose="02040503050406030204" pitchFamily="18" charset="0"/>
              </a:rPr>
              <a:t>Autoprefixer</a:t>
            </a:r>
            <a:r>
              <a:rPr lang="en-IN" sz="1900" b="1" dirty="0">
                <a:latin typeface="Cambria" panose="02040503050406030204" pitchFamily="18" charset="0"/>
                <a:ea typeface="Cambria" panose="02040503050406030204" pitchFamily="18" charset="0"/>
              </a:rPr>
              <a:t>:</a:t>
            </a:r>
            <a:r>
              <a:rPr lang="en-IN" sz="1900" dirty="0">
                <a:latin typeface="Cambria" panose="02040503050406030204" pitchFamily="18" charset="0"/>
                <a:ea typeface="Cambria" panose="02040503050406030204" pitchFamily="18" charset="0"/>
              </a:rPr>
              <a:t> Optimizes CSS for cross-browser compatibility</a:t>
            </a:r>
          </a:p>
          <a:p>
            <a:r>
              <a:rPr lang="en-IN" sz="1900" b="1" dirty="0">
                <a:latin typeface="Cambria" panose="02040503050406030204" pitchFamily="18" charset="0"/>
                <a:ea typeface="Cambria" panose="02040503050406030204" pitchFamily="18" charset="0"/>
              </a:rPr>
              <a:t>GitHub:</a:t>
            </a:r>
            <a:r>
              <a:rPr lang="en-IN" sz="1900" dirty="0">
                <a:latin typeface="Cambria" panose="02040503050406030204" pitchFamily="18" charset="0"/>
                <a:ea typeface="Cambria" panose="02040503050406030204" pitchFamily="18" charset="0"/>
              </a:rPr>
              <a:t> Version control and static web application hosting</a:t>
            </a:r>
          </a:p>
          <a:p>
            <a:pPr marL="342900" lvl="0" indent="-190500" algn="just" rtl="0">
              <a:spcBef>
                <a:spcPts val="0"/>
              </a:spcBef>
              <a:spcAft>
                <a:spcPts val="0"/>
              </a:spcAft>
              <a:buClr>
                <a:schemeClr val="dk1"/>
              </a:buClr>
              <a:buSzPct val="100000"/>
              <a:buNone/>
            </a:pPr>
            <a:endParaRPr lang="en-US" sz="19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sz="19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19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19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8E66D6E-BDCD-BA38-6A50-B7756F86C31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361E56F4-670E-2D7E-6DE5-5A2921DE1B1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Innovation or Novel Contributions</a:t>
            </a:r>
          </a:p>
        </p:txBody>
      </p:sp>
      <p:sp>
        <p:nvSpPr>
          <p:cNvPr id="115" name="Google Shape;115;p17">
            <a:extLst>
              <a:ext uri="{FF2B5EF4-FFF2-40B4-BE49-F238E27FC236}">
                <a16:creationId xmlns:a16="http://schemas.microsoft.com/office/drawing/2014/main" id="{0A57B3AB-68B2-8FC1-D67B-DA8D99178159}"/>
              </a:ext>
            </a:extLst>
          </p:cNvPr>
          <p:cNvSpPr txBox="1">
            <a:spLocks noGrp="1"/>
          </p:cNvSpPr>
          <p:nvPr>
            <p:ph type="body" idx="1"/>
          </p:nvPr>
        </p:nvSpPr>
        <p:spPr>
          <a:xfrm>
            <a:off x="812800" y="1027522"/>
            <a:ext cx="10668000" cy="5068478"/>
          </a:xfrm>
          <a:prstGeom prst="rect">
            <a:avLst/>
          </a:prstGeom>
          <a:noFill/>
          <a:ln>
            <a:noFill/>
          </a:ln>
        </p:spPr>
        <p:txBody>
          <a:bodyPr spcFirstLastPara="1" wrap="square" lIns="91425" tIns="45700" rIns="91425" bIns="45700" anchor="t" anchorCtr="0">
            <a:noAutofit/>
          </a:bodyPr>
          <a:lstStyle/>
          <a:p>
            <a:pPr marL="76200" indent="0">
              <a:buNone/>
            </a:pPr>
            <a:r>
              <a:rPr lang="en-US" sz="1900" dirty="0">
                <a:latin typeface="Cambria" panose="02040503050406030204" pitchFamily="18" charset="0"/>
                <a:ea typeface="Cambria" panose="02040503050406030204" pitchFamily="18" charset="0"/>
              </a:rPr>
              <a:t>This project introduces an intelligent, image-based digital system for automated cattle and buffalo breed recognition. Unlike traditional and existing approaches, this system:</a:t>
            </a:r>
          </a:p>
          <a:p>
            <a:r>
              <a:rPr lang="en-US" sz="1900" b="1" dirty="0">
                <a:latin typeface="Cambria" panose="02040503050406030204" pitchFamily="18" charset="0"/>
                <a:ea typeface="Cambria" panose="02040503050406030204" pitchFamily="18" charset="0"/>
              </a:rPr>
              <a:t>Targets non-expert users:</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Enables farmers and field-level stakeholders to identify breeds using images without requiring expert knowledge or manual inspection.</a:t>
            </a:r>
          </a:p>
          <a:p>
            <a:r>
              <a:rPr lang="en-US" sz="1900" b="1" dirty="0">
                <a:latin typeface="Cambria" panose="02040503050406030204" pitchFamily="18" charset="0"/>
                <a:ea typeface="Cambria" panose="02040503050406030204" pitchFamily="18" charset="0"/>
              </a:rPr>
              <a:t>Leverages computer vision &amp; AI:</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Utilizes image preprocessing, feature extraction, and machine learning/deep learning models to achieve accurate and consistent breed classification.</a:t>
            </a:r>
          </a:p>
          <a:p>
            <a:r>
              <a:rPr lang="en-US" sz="1900" b="1" dirty="0">
                <a:latin typeface="Cambria" panose="02040503050406030204" pitchFamily="18" charset="0"/>
                <a:ea typeface="Cambria" panose="02040503050406030204" pitchFamily="18" charset="0"/>
              </a:rPr>
              <a:t>Supports multiple breeds under real conditions:</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Designed to handle variations in lighting, pose, background, and image quality commonly found in real farm environments.</a:t>
            </a:r>
          </a:p>
          <a:p>
            <a:r>
              <a:rPr lang="en-US" sz="1900" b="1" dirty="0">
                <a:latin typeface="Cambria" panose="02040503050406030204" pitchFamily="18" charset="0"/>
                <a:ea typeface="Cambria" panose="02040503050406030204" pitchFamily="18" charset="0"/>
              </a:rPr>
              <a:t>Scalable digital framework:</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Can be deployed as a lightweight web or mobile application, with scope for future integration of disease detection and genetic analysis.</a:t>
            </a:r>
          </a:p>
          <a:p>
            <a:pPr marL="76200" indent="0">
              <a:buNone/>
            </a:pPr>
            <a:r>
              <a:rPr lang="en-US" sz="1900" dirty="0">
                <a:latin typeface="Cambria" panose="02040503050406030204" pitchFamily="18" charset="0"/>
                <a:ea typeface="Cambria" panose="02040503050406030204" pitchFamily="18" charset="0"/>
              </a:rPr>
              <a:t>This approach bridges the gap between traditional livestock practices and modern AI-driven solutions, promoting precision livestock management and sustainable animal husbandry.</a:t>
            </a:r>
          </a:p>
        </p:txBody>
      </p:sp>
    </p:spTree>
    <p:extLst>
      <p:ext uri="{BB962C8B-B14F-4D97-AF65-F5344CB8AC3E}">
        <p14:creationId xmlns:p14="http://schemas.microsoft.com/office/powerpoint/2010/main" val="1166884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r>
              <a:rPr lang="en-US" dirty="0">
                <a:latin typeface="Cambria" panose="02040503050406030204" pitchFamily="18" charset="0"/>
                <a:ea typeface="Cambria" panose="02040503050406030204" pitchFamily="18" charset="0"/>
                <a:hlinkClick r:id="rId3"/>
              </a:rPr>
              <a:t>https://github.com/Rohan2486/CSE_40_UniversityProject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027522"/>
            <a:ext cx="10668000" cy="5068478"/>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76200" indent="0">
              <a:buNone/>
            </a:pPr>
            <a:r>
              <a:rPr lang="en-IN" sz="1900" u="sng" dirty="0">
                <a:latin typeface="Cambria" panose="02040503050406030204" pitchFamily="18" charset="0"/>
                <a:ea typeface="Cambria" panose="02040503050406030204" pitchFamily="18" charset="0"/>
              </a:rPr>
              <a:t>Software Requirements:</a:t>
            </a:r>
          </a:p>
          <a:p>
            <a:pPr marL="76200" indent="0">
              <a:buNone/>
            </a:pPr>
            <a:r>
              <a:rPr lang="en-US" sz="2000" dirty="0">
                <a:latin typeface="Cambria" panose="02040503050406030204" pitchFamily="18" charset="0"/>
                <a:ea typeface="Cambria" panose="02040503050406030204" pitchFamily="18" charset="0"/>
              </a:rPr>
              <a:t>Development Environment:</a:t>
            </a:r>
          </a:p>
          <a:p>
            <a:r>
              <a:rPr lang="en-US" sz="2000" dirty="0">
                <a:latin typeface="Cambria" panose="02040503050406030204" pitchFamily="18" charset="0"/>
                <a:ea typeface="Cambria" panose="02040503050406030204" pitchFamily="18" charset="0"/>
              </a:rPr>
              <a:t>Node.js 16+ — required for dependency management, build tools, and local development workflows</a:t>
            </a:r>
          </a:p>
          <a:p>
            <a:r>
              <a:rPr lang="en-US" sz="2000" dirty="0" err="1">
                <a:latin typeface="Cambria" panose="02040503050406030204" pitchFamily="18" charset="0"/>
                <a:ea typeface="Cambria" panose="02040503050406030204" pitchFamily="18" charset="0"/>
              </a:rPr>
              <a:t>npm</a:t>
            </a:r>
            <a:r>
              <a:rPr lang="en-US" sz="2000" dirty="0">
                <a:latin typeface="Cambria" panose="02040503050406030204" pitchFamily="18" charset="0"/>
                <a:ea typeface="Cambria" panose="02040503050406030204" pitchFamily="18" charset="0"/>
              </a:rPr>
              <a:t> / Yarn — package managers for dependency installation and project setup</a:t>
            </a:r>
          </a:p>
          <a:p>
            <a:r>
              <a:rPr lang="en-US" sz="2000" dirty="0">
                <a:latin typeface="Cambria" panose="02040503050406030204" pitchFamily="18" charset="0"/>
                <a:ea typeface="Cambria" panose="02040503050406030204" pitchFamily="18" charset="0"/>
              </a:rPr>
              <a:t>Modern Code Editor — such as Visual Studio Code, WebStorm, or equivalent for efficient code development</a:t>
            </a:r>
          </a:p>
          <a:p>
            <a:r>
              <a:rPr lang="en-US" sz="2000" dirty="0">
                <a:latin typeface="Cambria" panose="02040503050406030204" pitchFamily="18" charset="0"/>
                <a:ea typeface="Cambria" panose="02040503050406030204" pitchFamily="18" charset="0"/>
              </a:rPr>
              <a:t>Web Browsers (Latest versions recommended) — Chrome, Firefox, Edge, or Safari for application testing and UI validation</a:t>
            </a:r>
          </a:p>
          <a:p>
            <a:pPr marL="76200" indent="0">
              <a:buNone/>
            </a:pPr>
            <a:r>
              <a:rPr lang="en-US" sz="2000" dirty="0">
                <a:latin typeface="Cambria" panose="02040503050406030204" pitchFamily="18" charset="0"/>
                <a:ea typeface="Cambria" panose="02040503050406030204" pitchFamily="18" charset="0"/>
              </a:rPr>
              <a:t>Runtime Environment:</a:t>
            </a:r>
          </a:p>
          <a:p>
            <a:r>
              <a:rPr lang="en-US" sz="2000" dirty="0">
                <a:latin typeface="Cambria" panose="02040503050406030204" pitchFamily="18" charset="0"/>
                <a:ea typeface="Cambria" panose="02040503050406030204" pitchFamily="18" charset="0"/>
              </a:rPr>
              <a:t>Web Browser with JavaScript Support — required to execute client-side logic and render the application</a:t>
            </a:r>
          </a:p>
          <a:p>
            <a:r>
              <a:rPr lang="en-US" sz="2000" dirty="0">
                <a:latin typeface="Cambria" panose="02040503050406030204" pitchFamily="18" charset="0"/>
                <a:ea typeface="Cambria" panose="02040503050406030204" pitchFamily="18" charset="0"/>
              </a:rPr>
              <a:t>Active Internet Connection — for initial dependency loading, model resources, and remote APIs (if applicable)</a:t>
            </a:r>
          </a:p>
          <a:p>
            <a:pPr marL="342900" lvl="0" indent="-190500" algn="just" rtl="0">
              <a:lnSpc>
                <a:spcPct val="200000"/>
              </a:lnSpc>
              <a:spcBef>
                <a:spcPts val="0"/>
              </a:spcBef>
              <a:spcAft>
                <a:spcPts val="0"/>
              </a:spcAft>
              <a:buClr>
                <a:schemeClr val="dk1"/>
              </a:buClr>
              <a:buSzPct val="100000"/>
              <a:buNone/>
            </a:pPr>
            <a:endParaRPr lang="en-US" sz="19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IN" sz="1900" u="sng" dirty="0">
                <a:latin typeface="Cambria" panose="02040503050406030204" pitchFamily="18" charset="0"/>
                <a:ea typeface="Cambria" panose="02040503050406030204" pitchFamily="18" charset="0"/>
              </a:rPr>
              <a:t>Hardware Requirements:</a:t>
            </a:r>
          </a:p>
          <a:p>
            <a:pPr marL="76200" indent="0">
              <a:buNone/>
            </a:pPr>
            <a:r>
              <a:rPr lang="en-IN" sz="1900" dirty="0">
                <a:latin typeface="Cambria" panose="02040503050406030204" pitchFamily="18" charset="0"/>
                <a:ea typeface="Cambria" panose="02040503050406030204" pitchFamily="18" charset="0"/>
              </a:rPr>
              <a:t>Development Machine:</a:t>
            </a:r>
          </a:p>
          <a:p>
            <a:r>
              <a:rPr lang="en-IN" sz="1900" dirty="0">
                <a:latin typeface="Cambria" panose="02040503050406030204" pitchFamily="18" charset="0"/>
                <a:ea typeface="Cambria" panose="02040503050406030204" pitchFamily="18" charset="0"/>
              </a:rPr>
              <a:t>RAM: 4GB minimum, 8GB+ recommended</a:t>
            </a:r>
          </a:p>
          <a:p>
            <a:r>
              <a:rPr lang="en-IN" sz="1900" dirty="0">
                <a:latin typeface="Cambria" panose="02040503050406030204" pitchFamily="18" charset="0"/>
                <a:ea typeface="Cambria" panose="02040503050406030204" pitchFamily="18" charset="0"/>
              </a:rPr>
              <a:t>Storage: 500MB free space for dependencies</a:t>
            </a:r>
          </a:p>
          <a:p>
            <a:r>
              <a:rPr lang="en-IN" sz="1900" dirty="0">
                <a:latin typeface="Cambria" panose="02040503050406030204" pitchFamily="18" charset="0"/>
                <a:ea typeface="Cambria" panose="02040503050406030204" pitchFamily="18" charset="0"/>
              </a:rPr>
              <a:t>Processor: Any modern CPU (Intel i3/AMD equivalent or better)</a:t>
            </a:r>
          </a:p>
          <a:p>
            <a:pPr marL="76200" indent="0">
              <a:buNone/>
            </a:pPr>
            <a:endParaRPr lang="en-IN" sz="1900" dirty="0">
              <a:latin typeface="Cambria" panose="02040503050406030204" pitchFamily="18" charset="0"/>
              <a:ea typeface="Cambria" panose="02040503050406030204" pitchFamily="18" charset="0"/>
            </a:endParaRPr>
          </a:p>
          <a:p>
            <a:pPr marL="76200" indent="0">
              <a:buNone/>
            </a:pPr>
            <a:r>
              <a:rPr lang="en-IN" sz="1900" dirty="0">
                <a:latin typeface="Cambria" panose="02040503050406030204" pitchFamily="18" charset="0"/>
                <a:ea typeface="Cambria" panose="02040503050406030204" pitchFamily="18" charset="0"/>
              </a:rPr>
              <a:t>End User Device:</a:t>
            </a:r>
          </a:p>
          <a:p>
            <a:r>
              <a:rPr lang="en-IN" sz="1900" dirty="0">
                <a:latin typeface="Cambria" panose="02040503050406030204" pitchFamily="18" charset="0"/>
                <a:ea typeface="Cambria" panose="02040503050406030204" pitchFamily="18" charset="0"/>
              </a:rPr>
              <a:t>RAM: 2GB minimum</a:t>
            </a:r>
          </a:p>
          <a:p>
            <a:r>
              <a:rPr lang="en-IN" sz="1900" dirty="0">
                <a:latin typeface="Cambria" panose="02040503050406030204" pitchFamily="18" charset="0"/>
                <a:ea typeface="Cambria" panose="02040503050406030204" pitchFamily="18" charset="0"/>
              </a:rPr>
              <a:t>Storage: Minimal (runs in browser)</a:t>
            </a:r>
          </a:p>
          <a:p>
            <a:r>
              <a:rPr lang="en-IN" sz="1900" dirty="0">
                <a:latin typeface="Cambria" panose="02040503050406030204" pitchFamily="18" charset="0"/>
                <a:ea typeface="Cambria" panose="02040503050406030204" pitchFamily="18" charset="0"/>
              </a:rPr>
              <a:t>Screen: Any size (responsive design)</a:t>
            </a:r>
          </a:p>
          <a:p>
            <a:r>
              <a:rPr lang="en-IN" sz="1900" dirty="0">
                <a:latin typeface="Cambria" panose="02040503050406030204" pitchFamily="18" charset="0"/>
                <a:ea typeface="Cambria" panose="02040503050406030204" pitchFamily="18" charset="0"/>
              </a:rPr>
              <a:t>Input: Mouse/touch screen</a:t>
            </a:r>
          </a:p>
          <a:p>
            <a:r>
              <a:rPr lang="en-US" sz="1900" dirty="0">
                <a:latin typeface="Cambria" panose="02040503050406030204" pitchFamily="18" charset="0"/>
                <a:ea typeface="Cambria" panose="02040503050406030204" pitchFamily="18" charset="0"/>
              </a:rPr>
              <a:t>Client Device: Mobile, laptop, or desktop capable of running a modern web browser</a:t>
            </a:r>
          </a:p>
          <a:p>
            <a:r>
              <a:rPr lang="en-US" sz="1900" dirty="0">
                <a:latin typeface="Cambria" panose="02040503050406030204" pitchFamily="18" charset="0"/>
                <a:ea typeface="Cambria" panose="02040503050406030204" pitchFamily="18" charset="0"/>
              </a:rPr>
              <a:t>Camera (Optional for image capture): Smartphone/USB camera if images are captured directly in the field</a:t>
            </a:r>
          </a:p>
          <a:p>
            <a:endParaRPr lang="en-IN" sz="1900" dirty="0">
              <a:latin typeface="Cambria" panose="02040503050406030204" pitchFamily="18" charset="0"/>
              <a:ea typeface="Cambria" panose="02040503050406030204" pitchFamily="18" charset="0"/>
            </a:endParaRPr>
          </a:p>
          <a:p>
            <a:endParaRPr lang="en-IN" sz="19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Task                          Week 1  Week 2  Week 3  Week 4  Week 5  Week 6  Week 7 Week 8</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Literature Review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System Design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Dataset Preparation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Backend API Development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Frontend UI Development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Integration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Advanced Features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Testing &amp; Validation                                                                                               ████</a:t>
            </a:r>
          </a:p>
          <a:p>
            <a:pPr marL="342900" lvl="0" indent="-190500" algn="just">
              <a:spcBef>
                <a:spcPts val="0"/>
              </a:spcBef>
              <a:buSzPct val="100000"/>
              <a:buNone/>
            </a:pPr>
            <a:r>
              <a:rPr lang="en-IN" sz="2200" dirty="0">
                <a:latin typeface="Cambria" panose="02040503050406030204" pitchFamily="18" charset="0"/>
                <a:ea typeface="Cambria" panose="02040503050406030204" pitchFamily="18" charset="0"/>
              </a:rPr>
              <a:t>Documentation &amp; Deployment                                                                                         █████</a:t>
            </a:r>
          </a:p>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76200" indent="0">
              <a:buNone/>
            </a:pPr>
            <a:r>
              <a:rPr lang="en-IN" sz="2000" dirty="0">
                <a:latin typeface="Cambria" panose="02040503050406030204" pitchFamily="18" charset="0"/>
                <a:ea typeface="Cambria" panose="02040503050406030204" pitchFamily="18" charset="0"/>
              </a:rPr>
              <a:t>[1] P. Khairnar, P. Aher, V. Aher, P. Sonawane, and P. R. Pingale, “Image-based breed recognition for cattle and buffaloes of India,” </a:t>
            </a:r>
            <a:r>
              <a:rPr lang="en-IN" sz="2000" i="1" dirty="0">
                <a:latin typeface="Cambria" panose="02040503050406030204" pitchFamily="18" charset="0"/>
                <a:ea typeface="Cambria" panose="02040503050406030204" pitchFamily="18" charset="0"/>
              </a:rPr>
              <a:t>International Research Journal of Modernization in Engineering, Technology and Science</a:t>
            </a:r>
            <a:r>
              <a:rPr lang="en-IN" sz="2000" dirty="0">
                <a:latin typeface="Cambria" panose="02040503050406030204" pitchFamily="18" charset="0"/>
                <a:ea typeface="Cambria" panose="02040503050406030204" pitchFamily="18" charset="0"/>
              </a:rPr>
              <a:t>, vol. 7, no. 10, pp. 1–5, Oct. 2025.</a:t>
            </a:r>
          </a:p>
          <a:p>
            <a:pPr marL="76200" indent="0">
              <a:buNone/>
            </a:pPr>
            <a:r>
              <a:rPr lang="en-IN" sz="2000" dirty="0">
                <a:latin typeface="Cambria" panose="02040503050406030204" pitchFamily="18" charset="0"/>
                <a:ea typeface="Cambria" panose="02040503050406030204" pitchFamily="18" charset="0"/>
              </a:rPr>
              <a:t>[2] S. Singh, H. Rane, and A. Takle, “AI powered livestock </a:t>
            </a:r>
            <a:r>
              <a:rPr lang="en-IN" sz="2000" dirty="0" err="1">
                <a:latin typeface="Cambria" panose="02040503050406030204" pitchFamily="18" charset="0"/>
                <a:ea typeface="Cambria" panose="02040503050406030204" pitchFamily="18" charset="0"/>
              </a:rPr>
              <a:t>recognization</a:t>
            </a:r>
            <a:r>
              <a:rPr lang="en-IN" sz="2000" dirty="0">
                <a:latin typeface="Cambria" panose="02040503050406030204" pitchFamily="18" charset="0"/>
                <a:ea typeface="Cambria" panose="02040503050406030204" pitchFamily="18" charset="0"/>
              </a:rPr>
              <a:t> system,” in </a:t>
            </a:r>
            <a:r>
              <a:rPr lang="en-IN" sz="2000" i="1" dirty="0">
                <a:latin typeface="Cambria" panose="02040503050406030204" pitchFamily="18" charset="0"/>
                <a:ea typeface="Cambria" panose="02040503050406030204" pitchFamily="18" charset="0"/>
              </a:rPr>
              <a:t>2024 IEEE 9th International Conference for Convergence in Technology (I2CT)</a:t>
            </a:r>
            <a:r>
              <a:rPr lang="en-IN" sz="2000" dirty="0">
                <a:latin typeface="Cambria" panose="02040503050406030204" pitchFamily="18" charset="0"/>
                <a:ea typeface="Cambria" panose="02040503050406030204" pitchFamily="18" charset="0"/>
              </a:rPr>
              <a:t>, Pune, India, Apr. 2024, pp. 1–6.</a:t>
            </a:r>
          </a:p>
          <a:p>
            <a:pPr marL="76200" indent="0">
              <a:buNone/>
            </a:pPr>
            <a:r>
              <a:rPr lang="en-IN" sz="2000" dirty="0">
                <a:latin typeface="Cambria" panose="02040503050406030204" pitchFamily="18" charset="0"/>
                <a:ea typeface="Cambria" panose="02040503050406030204" pitchFamily="18" charset="0"/>
              </a:rPr>
              <a:t>[3] N. Jayakumar, N. Kumar, and A. Rudrakumaran, “Biometric muzzle pattern recognition for cattle identification using deep learning,” in </a:t>
            </a:r>
            <a:r>
              <a:rPr lang="en-IN" sz="2000" i="1" dirty="0">
                <a:latin typeface="Cambria" panose="02040503050406030204" pitchFamily="18" charset="0"/>
                <a:ea typeface="Cambria" panose="02040503050406030204" pitchFamily="18" charset="0"/>
              </a:rPr>
              <a:t>2023 Int. Conf. on Inventive Computation Technologies (ICICT)</a:t>
            </a:r>
            <a:r>
              <a:rPr lang="en-IN" sz="2000" dirty="0">
                <a:latin typeface="Cambria" panose="02040503050406030204" pitchFamily="18" charset="0"/>
                <a:ea typeface="Cambria" panose="02040503050406030204" pitchFamily="18" charset="0"/>
              </a:rPr>
              <a:t>, 2023, </a:t>
            </a:r>
            <a:r>
              <a:rPr lang="en-IN" sz="2000" dirty="0" err="1">
                <a:latin typeface="Cambria" panose="02040503050406030204" pitchFamily="18" charset="0"/>
                <a:ea typeface="Cambria" panose="02040503050406030204" pitchFamily="18" charset="0"/>
              </a:rPr>
              <a:t>doi</a:t>
            </a:r>
            <a:r>
              <a:rPr lang="en-IN" sz="2000" dirty="0">
                <a:latin typeface="Cambria" panose="02040503050406030204" pitchFamily="18" charset="0"/>
                <a:ea typeface="Cambria" panose="02040503050406030204" pitchFamily="18" charset="0"/>
              </a:rPr>
              <a:t>: 10.1109/ICICT57646.2023.10134082.</a:t>
            </a:r>
          </a:p>
          <a:p>
            <a:pPr marL="76200" indent="0">
              <a:buNone/>
            </a:pPr>
            <a:r>
              <a:rPr lang="en-IN" sz="2000" dirty="0">
                <a:latin typeface="Cambria" panose="02040503050406030204" pitchFamily="18" charset="0"/>
                <a:ea typeface="Cambria" panose="02040503050406030204" pitchFamily="18" charset="0"/>
              </a:rPr>
              <a:t>[4] Y. Qiao, D. Su, H. Kong, S. </a:t>
            </a:r>
            <a:r>
              <a:rPr lang="en-IN" sz="2000" dirty="0" err="1">
                <a:latin typeface="Cambria" panose="02040503050406030204" pitchFamily="18" charset="0"/>
                <a:ea typeface="Cambria" panose="02040503050406030204" pitchFamily="18" charset="0"/>
              </a:rPr>
              <a:t>Sukkarieh</a:t>
            </a:r>
            <a:r>
              <a:rPr lang="en-IN" sz="2000" dirty="0">
                <a:latin typeface="Cambria" panose="02040503050406030204" pitchFamily="18" charset="0"/>
                <a:ea typeface="Cambria" panose="02040503050406030204" pitchFamily="18" charset="0"/>
              </a:rPr>
              <a:t>, S. Lomax, and C. Clark, “Data augmentation for deep learning based cattle segmentation in precision livestock farming,” in </a:t>
            </a:r>
            <a:r>
              <a:rPr lang="en-IN" sz="2000" i="1" dirty="0">
                <a:latin typeface="Cambria" panose="02040503050406030204" pitchFamily="18" charset="0"/>
                <a:ea typeface="Cambria" panose="02040503050406030204" pitchFamily="18" charset="0"/>
              </a:rPr>
              <a:t>2020 IEEE 16th International Conference on Automation Science and Engineering (CASE)</a:t>
            </a:r>
            <a:r>
              <a:rPr lang="en-IN" sz="2000" dirty="0">
                <a:latin typeface="Cambria" panose="02040503050406030204" pitchFamily="18" charset="0"/>
                <a:ea typeface="Cambria" panose="02040503050406030204" pitchFamily="18" charset="0"/>
              </a:rPr>
              <a:t>, Aug. 2020, pp. 979–984.</a:t>
            </a:r>
          </a:p>
          <a:p>
            <a:pPr marL="76200" indent="0">
              <a:buNone/>
            </a:pPr>
            <a:r>
              <a:rPr lang="en-IN" sz="2000" dirty="0">
                <a:latin typeface="Cambria" panose="02040503050406030204" pitchFamily="18" charset="0"/>
                <a:ea typeface="Cambria" panose="02040503050406030204" pitchFamily="18" charset="0"/>
              </a:rPr>
              <a:t>[5] S. Manoj, R. S., and K. V., “Identification of cattle breed using the convolutional neural network,” in </a:t>
            </a:r>
            <a:r>
              <a:rPr lang="en-IN" sz="2000" i="1" dirty="0">
                <a:latin typeface="Cambria" panose="02040503050406030204" pitchFamily="18" charset="0"/>
                <a:ea typeface="Cambria" panose="02040503050406030204" pitchFamily="18" charset="0"/>
              </a:rPr>
              <a:t>2021 3rd International Conference on Signal Processing and Communication (ICPSC)</a:t>
            </a:r>
            <a:r>
              <a:rPr lang="en-IN" sz="2000" dirty="0">
                <a:latin typeface="Cambria" panose="02040503050406030204" pitchFamily="18" charset="0"/>
                <a:ea typeface="Cambria" panose="02040503050406030204" pitchFamily="18" charset="0"/>
              </a:rPr>
              <a:t>, Coimbatore, India, May 2021.</a:t>
            </a:r>
          </a:p>
          <a:p>
            <a:pPr marL="76200" indent="0">
              <a:buNone/>
            </a:pPr>
            <a:r>
              <a:rPr lang="en-IN" sz="2000" dirty="0">
                <a:latin typeface="Cambria" panose="02040503050406030204" pitchFamily="18" charset="0"/>
                <a:ea typeface="Cambria" panose="02040503050406030204" pitchFamily="18" charset="0"/>
              </a:rPr>
              <a:t>[6] N. R. </a:t>
            </a:r>
            <a:r>
              <a:rPr lang="en-IN" sz="2000" dirty="0" err="1">
                <a:latin typeface="Cambria" panose="02040503050406030204" pitchFamily="18" charset="0"/>
                <a:ea typeface="Cambria" panose="02040503050406030204" pitchFamily="18" charset="0"/>
              </a:rPr>
              <a:t>Duraiswami</a:t>
            </a:r>
            <a:r>
              <a:rPr lang="en-IN" sz="2000" dirty="0">
                <a:latin typeface="Cambria" panose="02040503050406030204" pitchFamily="18" charset="0"/>
                <a:ea typeface="Cambria" panose="02040503050406030204" pitchFamily="18" charset="0"/>
              </a:rPr>
              <a:t>, S. Bhalerao, and A. Watni, “Cattle breed detection and categorization using image processing and machine learning,” in </a:t>
            </a:r>
            <a:r>
              <a:rPr lang="en-IN" sz="2000" i="1" dirty="0">
                <a:latin typeface="Cambria" panose="02040503050406030204" pitchFamily="18" charset="0"/>
                <a:ea typeface="Cambria" panose="02040503050406030204" pitchFamily="18" charset="0"/>
              </a:rPr>
              <a:t>2022 Int. Conf. on Advancements in Smart, Secure and Intelligent Computing (ASSIC)</a:t>
            </a:r>
            <a:r>
              <a:rPr lang="en-IN" sz="2000" dirty="0">
                <a:latin typeface="Cambria" panose="02040503050406030204" pitchFamily="18" charset="0"/>
                <a:ea typeface="Cambria" panose="02040503050406030204" pitchFamily="18" charset="0"/>
              </a:rPr>
              <a:t>, 2022.</a:t>
            </a:r>
          </a:p>
          <a:p>
            <a:pPr marL="76200" indent="0">
              <a:buNone/>
            </a:pPr>
            <a:r>
              <a:rPr lang="en-IN" sz="2000" dirty="0">
                <a:latin typeface="Cambria" panose="02040503050406030204" pitchFamily="18" charset="0"/>
                <a:ea typeface="Cambria" panose="02040503050406030204" pitchFamily="18" charset="0"/>
              </a:rPr>
              <a:t>[7] S. Kumar and S. K. Singh, “Cattle recognition: A new frontier in visual animal biometrics research,” </a:t>
            </a:r>
            <a:r>
              <a:rPr lang="en-IN" sz="2000" i="1" dirty="0">
                <a:latin typeface="Cambria" panose="02040503050406030204" pitchFamily="18" charset="0"/>
                <a:ea typeface="Cambria" panose="02040503050406030204" pitchFamily="18" charset="0"/>
              </a:rPr>
              <a:t>Proc. Natl. Acad. Sci., India, Sect. A, Phys. Sci.</a:t>
            </a:r>
            <a:r>
              <a:rPr lang="en-IN" sz="2000" dirty="0">
                <a:latin typeface="Cambria" panose="02040503050406030204" pitchFamily="18" charset="0"/>
                <a:ea typeface="Cambria" panose="02040503050406030204" pitchFamily="18" charset="0"/>
              </a:rPr>
              <a:t>, vol. 90, no. 4, pp. 689–708, 2020.</a:t>
            </a:r>
          </a:p>
          <a:p>
            <a:pPr marL="76200" indent="0">
              <a:buNone/>
            </a:pPr>
            <a:r>
              <a:rPr lang="en-IN" sz="2000" dirty="0">
                <a:latin typeface="Cambria" panose="02040503050406030204" pitchFamily="18" charset="0"/>
                <a:ea typeface="Cambria" panose="02040503050406030204" pitchFamily="18" charset="0"/>
              </a:rPr>
              <a:t>[8] R. W. Bello, A. Z. Talib, A. S. A. Mohamed, D. A. Olubummo, and F. N. </a:t>
            </a:r>
            <a:r>
              <a:rPr lang="en-IN" sz="2000" dirty="0" err="1">
                <a:latin typeface="Cambria" panose="02040503050406030204" pitchFamily="18" charset="0"/>
                <a:ea typeface="Cambria" panose="02040503050406030204" pitchFamily="18" charset="0"/>
              </a:rPr>
              <a:t>Otobo</a:t>
            </a:r>
            <a:r>
              <a:rPr lang="en-IN" sz="2000" dirty="0">
                <a:latin typeface="Cambria" panose="02040503050406030204" pitchFamily="18" charset="0"/>
                <a:ea typeface="Cambria" panose="02040503050406030204" pitchFamily="18" charset="0"/>
              </a:rPr>
              <a:t>, “Image-based individual cow recognition using body patterns,” </a:t>
            </a:r>
            <a:r>
              <a:rPr lang="en-IN" sz="2000" i="1" dirty="0">
                <a:latin typeface="Cambria" panose="02040503050406030204" pitchFamily="18" charset="0"/>
                <a:ea typeface="Cambria" panose="02040503050406030204" pitchFamily="18" charset="0"/>
              </a:rPr>
              <a:t>Image</a:t>
            </a:r>
            <a:r>
              <a:rPr lang="en-IN" sz="2000" dirty="0">
                <a:latin typeface="Cambria" panose="02040503050406030204" pitchFamily="18" charset="0"/>
                <a:ea typeface="Cambria" panose="02040503050406030204" pitchFamily="18" charset="0"/>
              </a:rPr>
              <a:t>, vol. 11, no. 3, 2020.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TotalTime>
  <Words>1568</Words>
  <Application>Microsoft Office PowerPoint</Application>
  <PresentationFormat>Widescreen</PresentationFormat>
  <Paragraphs>139</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Image-based Breed Recognition for Cattle and Buffalo</vt:lpstr>
      <vt:lpstr>Problem Statement Number: SIH25004</vt:lpstr>
      <vt:lpstr>Content</vt:lpstr>
      <vt:lpstr>Objectives</vt:lpstr>
      <vt:lpstr>Background and Related work for title Selection</vt:lpstr>
      <vt:lpstr>Analysis of Problem Statement</vt:lpstr>
      <vt:lpstr>Innovation or Novel Contributions</vt:lpstr>
      <vt:lpstr>Github Link</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Rohan Das</cp:lastModifiedBy>
  <cp:revision>47</cp:revision>
  <dcterms:modified xsi:type="dcterms:W3CDTF">2026-01-12T05:10:30Z</dcterms:modified>
</cp:coreProperties>
</file>